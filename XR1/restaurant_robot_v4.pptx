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传统人工厨房 (CN)</c:v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人力</c:v>
                  </c:pt>
                  <c:pt idx="1">
                    <c:v>原料损耗</c:v>
                  </c:pt>
                  <c:pt idx="2">
                    <c:v>设备折旧</c:v>
                  </c:pt>
                  <c:pt idx="3">
                    <c:v>水电气</c:v>
                  </c:pt>
                  <c:pt idx="4">
                    <c:v>管理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3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机器人方案 (CN)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人力</c:v>
                  </c:pt>
                  <c:pt idx="1">
                    <c:v>原料损耗</c:v>
                  </c:pt>
                  <c:pt idx="2">
                    <c:v>设备折旧</c:v>
                  </c:pt>
                  <c:pt idx="3">
                    <c:v>水电气</c:v>
                  </c:pt>
                  <c:pt idx="4">
                    <c:v>管理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1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机器人方案 (SG · 含PSG)</c:v>
                </c:pt>
              </c:strCache>
            </c:strRef>
          </c:tx>
          <c:spPr>
            <a:solidFill>
              <a:srgbClr val="ED293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人力</c:v>
                  </c:pt>
                  <c:pt idx="1">
                    <c:v>原料损耗</c:v>
                  </c:pt>
                  <c:pt idx="2">
                    <c:v>设备折旧</c:v>
                  </c:pt>
                  <c:pt idx="3">
                    <c:v>水电气</c:v>
                  </c:pt>
                  <c:pt idx="4">
                    <c:v>管理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 MEAL  MASTER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餐厅自动化方案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人形机器人 + 自动炒锅  ·  中国 × 新加坡 双市场布局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48640" cy="457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26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</a:t>
            </a:r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份/日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3456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单店设计产能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65960" y="2926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965960" y="3456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人工成本节省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0" y="2926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8-14</a:t>
            </a:r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个月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83280" y="3456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回本周期(SG / CN)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00600" y="2926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800600" y="3456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PSG 政府补贴(SG)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0" y="1097280"/>
            <a:ext cx="2103120" cy="2743200"/>
          </a:xfrm>
          <a:prstGeom prst="roundRect">
            <a:avLst>
              <a:gd name="adj" fmla="val 7826"/>
            </a:avLst>
          </a:prstGeom>
          <a:solidFill>
            <a:srgbClr val="2C2C2C"/>
          </a:solidFill>
          <a:ln w="19050">
            <a:solidFill>
              <a:srgbClr val="D97757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371600"/>
            <a:ext cx="777240" cy="7772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583680" y="2286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Embodied AI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58368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B2B kitchens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58000" y="2971800"/>
            <a:ext cx="1554480" cy="0"/>
          </a:xfrm>
          <a:prstGeom prst="line">
            <a:avLst/>
          </a:prstGeom>
          <a:noFill/>
          <a:ln w="9525">
            <a:solidFill>
              <a:srgbClr val="D9775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🇨🇳 China</a:t>
            </a:r>
            <a:pPr algn="ctr" indent="0" marL="0">
              <a:buNone/>
            </a:pPr>
            <a:r>
              <a:rPr lang="en-US" sz="13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+  </a:t>
            </a:r>
            <a:pPr algn="ctr" indent="0" marL="0">
              <a:buNone/>
            </a:pPr>
            <a:r>
              <a:rPr lang="en-US" sz="1300" b="1" dirty="0">
                <a:solidFill>
                  <a:srgbClr val="E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🇸🇬 SG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583680" y="34564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Dual-market launch · 2026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4864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Ferris Tan  ·  Astra Intelligence  ·  v4.0  ·  Universal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10972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目录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Outline · 9 sections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060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10058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508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痛点与定位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1920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 + 新加坡 双市场痛点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1417320"/>
            <a:ext cx="26060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417320"/>
            <a:ext cx="54864" cy="10058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2" name="Text 10"/>
          <p:cNvSpPr/>
          <p:nvPr/>
        </p:nvSpPr>
        <p:spPr>
          <a:xfrm>
            <a:off x="3319272" y="1508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3192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市场规模与竞争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9272" y="1920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1.8 万亿 CN + S$28.9B SG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52160" y="1417320"/>
            <a:ext cx="26060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0" y="1417320"/>
            <a:ext cx="54864" cy="10058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7" name="Text 15"/>
          <p:cNvSpPr/>
          <p:nvPr/>
        </p:nvSpPr>
        <p:spPr>
          <a:xfrm>
            <a:off x="6016752" y="1508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940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为什么是我们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16752" y="1920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三大核心护城河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514600"/>
            <a:ext cx="26060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514600"/>
            <a:ext cx="54864" cy="10058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2606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" y="3017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产线 + 信息流物料流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54680" y="2514600"/>
            <a:ext cx="26060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54680" y="2514600"/>
            <a:ext cx="54864" cy="10058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7" name="Text 25"/>
          <p:cNvSpPr/>
          <p:nvPr/>
        </p:nvSpPr>
        <p:spPr>
          <a:xfrm>
            <a:off x="3319272" y="2606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931920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第一阶段聚焦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19272" y="3017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0→1 的工程克制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852160" y="2514600"/>
            <a:ext cx="26060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52160" y="2514600"/>
            <a:ext cx="54864" cy="10058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2" name="Text 30"/>
          <p:cNvSpPr/>
          <p:nvPr/>
        </p:nvSpPr>
        <p:spPr>
          <a:xfrm>
            <a:off x="6016752" y="2606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629400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单点经济模型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016752" y="3017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 14 月 CN / 8 月 SG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3611880"/>
            <a:ext cx="26060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611880"/>
            <a:ext cx="54864" cy="10058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" y="3703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234440" y="3703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月双轨路径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1792" y="4114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 5 店 + 新加坡 3 店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54680" y="3611880"/>
            <a:ext cx="26060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54680" y="3611880"/>
            <a:ext cx="54864" cy="10058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2" name="Text 40"/>
          <p:cNvSpPr/>
          <p:nvPr/>
        </p:nvSpPr>
        <p:spPr>
          <a:xfrm>
            <a:off x="3319272" y="3703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931920" y="3703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海外扩张:新加坡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319272" y="4114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海外第一站锚定 + 东南亚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852160" y="3611880"/>
            <a:ext cx="26060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52160" y="3611880"/>
            <a:ext cx="54864" cy="10058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7" name="Text 45"/>
          <p:cNvSpPr/>
          <p:nvPr/>
        </p:nvSpPr>
        <p:spPr>
          <a:xfrm>
            <a:off x="6016752" y="3703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6629400" y="3703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团队与 A 轮 ask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016752" y="4114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8,000 万 / 18 月北极星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10972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  痛点与定位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now · why this market — China + Singapore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926080" cy="3520440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 句  话  定  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为团餐场景提供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128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人形机器人 + 自动炒锅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26700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整体出餐方案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914400" cy="0"/>
          </a:xfrm>
          <a:prstGeom prst="line">
            <a:avLst/>
          </a:prstGeom>
          <a:noFill/>
          <a:ln w="12700">
            <a:solidFill>
              <a:srgbClr val="D97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起步日产能 500 份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目标客户:企业 / 医院 / 学校食堂、连锁中餐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🇨🇳 </a:t>
            </a:r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🇸🇬 </a:t>
            </a:r>
            <a:pPr indent="0" marL="0">
              <a:buNone/>
            </a:pPr>
            <a:r>
              <a:rPr lang="en-US" sz="1300" b="1" dirty="0">
                <a:solidFill>
                  <a:srgbClr val="ED29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新加坡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12801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两个市场  ·  同一痛点逻辑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20440" y="1627632"/>
            <a:ext cx="25146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0440" y="1627632"/>
            <a:ext cx="2514600" cy="320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1627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🇨🇳  China</a:t>
            </a:r>
            <a:endParaRPr lang="en-US" sz="10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5032" y="2084832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160520" y="20391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团餐用工成本年增 8-12%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685032" y="25877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员工流失率超 30%,后厨招聘周期延长至 45+ 天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126480" y="1627632"/>
            <a:ext cx="25146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26480" y="1627632"/>
            <a:ext cx="2514600" cy="320040"/>
          </a:xfrm>
          <a:prstGeom prst="rect">
            <a:avLst/>
          </a:prstGeom>
          <a:solidFill>
            <a:srgbClr val="ED2939"/>
          </a:solidFill>
          <a:ln/>
        </p:spPr>
      </p:sp>
      <p:sp>
        <p:nvSpPr>
          <p:cNvPr id="23" name="Text 20"/>
          <p:cNvSpPr/>
          <p:nvPr/>
        </p:nvSpPr>
        <p:spPr>
          <a:xfrm>
            <a:off x="6263640" y="1627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🇸🇬  SG</a:t>
            </a:r>
            <a:endParaRPr lang="en-US" sz="10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84832"/>
            <a:ext cx="365760" cy="3657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766560" y="20391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F&amp;B 外劳上限触顶 35%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291072" y="25877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DRC 已不可再扩,WP 月 levy S$300-950 持续上涨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3520440" y="3255264"/>
            <a:ext cx="25146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520440" y="3255264"/>
            <a:ext cx="2514600" cy="320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9" name="Text 25"/>
          <p:cNvSpPr/>
          <p:nvPr/>
        </p:nvSpPr>
        <p:spPr>
          <a:xfrm>
            <a:off x="3657600" y="32552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🇨🇳  China</a:t>
            </a:r>
            <a:endParaRPr lang="en-US" sz="10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3712464"/>
            <a:ext cx="365760" cy="36576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160520" y="366674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标准化与品控难以兼得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3685032" y="421538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连锁规模化要求 SOP,人工厨房难以稳定复现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126480" y="3255264"/>
            <a:ext cx="25146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126480" y="3255264"/>
            <a:ext cx="2514600" cy="320040"/>
          </a:xfrm>
          <a:prstGeom prst="rect">
            <a:avLst/>
          </a:prstGeom>
          <a:solidFill>
            <a:srgbClr val="ED2939"/>
          </a:solidFill>
          <a:ln/>
        </p:spPr>
      </p:sp>
      <p:sp>
        <p:nvSpPr>
          <p:cNvPr id="35" name="Text 30"/>
          <p:cNvSpPr/>
          <p:nvPr/>
        </p:nvSpPr>
        <p:spPr>
          <a:xfrm>
            <a:off x="6263640" y="32552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🇸🇬  SG</a:t>
            </a:r>
            <a:endParaRPr lang="en-US" sz="100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3712464"/>
            <a:ext cx="365760" cy="36576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766560" y="366674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市场需求 18.7% CAGR 超速扩张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6291072" y="421538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S$28.9B → S$68.1B(2025-2030),供给跟不上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10972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  市场规模与竞争格局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China · Singapore · 同一品类、两个增长引擎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中国市场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🇨🇳  规模红利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17720" y="12801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29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新加坡市场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17720" y="12801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🇸🇬  增速 + 品牌信号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4069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27632"/>
            <a:ext cx="566928" cy="2743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276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1.8 万亿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0080" y="226771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中国团餐市场年规模 (2024)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633472"/>
            <a:ext cx="4069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33472"/>
            <a:ext cx="566928" cy="274320"/>
          </a:xfrm>
          <a:prstGeom prst="rect">
            <a:avLst/>
          </a:prstGeom>
          <a:solidFill>
            <a:srgbClr val="7A9B7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334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9260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3,200 亿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" y="327355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可自动化的标准化中餐细分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639312"/>
            <a:ext cx="4069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639312"/>
            <a:ext cx="566928" cy="274320"/>
          </a:xfrm>
          <a:prstGeom prst="rect">
            <a:avLst/>
          </a:prstGeom>
          <a:solidFill>
            <a:srgbClr val="E8A95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6393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 亿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40080" y="427939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年内可触达的连锁/团餐头部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1627632"/>
            <a:ext cx="4069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1627632"/>
            <a:ext cx="566928" cy="274320"/>
          </a:xfrm>
          <a:prstGeom prst="rect">
            <a:avLst/>
          </a:prstGeom>
          <a:solidFill>
            <a:srgbClr val="ED2939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16276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Mkt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19202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S$28.9B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800600" y="22677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餐饮市场 → S$68.1B by 2030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2633472"/>
            <a:ext cx="4069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2633472"/>
            <a:ext cx="566928" cy="274320"/>
          </a:xfrm>
          <a:prstGeom prst="rect">
            <a:avLst/>
          </a:prstGeom>
          <a:solidFill>
            <a:srgbClr val="7A9B76"/>
          </a:solidFill>
          <a:ln/>
        </p:spPr>
      </p:sp>
      <p:sp>
        <p:nvSpPr>
          <p:cNvPr id="31" name="Text 29"/>
          <p:cNvSpPr/>
          <p:nvPr/>
        </p:nvSpPr>
        <p:spPr>
          <a:xfrm>
            <a:off x="4617720" y="26334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CAGR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29260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18.7%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4800600" y="32735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 F&amp;B 最高增速地区之一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3639312"/>
            <a:ext cx="4069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3639312"/>
            <a:ext cx="566928" cy="274320"/>
          </a:xfrm>
          <a:prstGeom prst="rect">
            <a:avLst/>
          </a:prstGeom>
          <a:solidFill>
            <a:srgbClr val="E8A957"/>
          </a:solidFill>
          <a:ln/>
        </p:spPr>
      </p:sp>
      <p:sp>
        <p:nvSpPr>
          <p:cNvPr id="36" name="Text 34"/>
          <p:cNvSpPr/>
          <p:nvPr/>
        </p:nvSpPr>
        <p:spPr>
          <a:xfrm>
            <a:off x="4617720" y="36393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Govt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0600" y="3931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4800600" y="42793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PSG 政府补贴(Budget 2026 加码)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主要玩家:智谷天厨 · 千玺(碧桂园) · 橡鹭科技 · 传统机械臂  —— 共同短板:无柔性末端 / 无数据飞轮 / 无跨场景部署能力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10972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  为什么是我们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 structural moats — what others can't replicate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743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2743200" cy="54864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4447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柔性末端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97280" y="16916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Dexterous end-effector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1993392"/>
            <a:ext cx="2377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1.5 万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40080" y="2651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(vs 30 万 进口)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" y="2971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16 自由度灵巧手 + 力控关节,自研欠驱动设计 + 国产替代 + 算法补偿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4360" y="3886200"/>
            <a:ext cx="2468880" cy="82296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39319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为什么追不上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85800" y="4114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Shadow Hand 30 万售价决定了任何家庭机器人都不可能用它;1.5 万让消费级有了物理基础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246120" y="1280160"/>
            <a:ext cx="2743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46120" y="1280160"/>
            <a:ext cx="2743200" cy="54864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463040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886200" y="14447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数据飞轮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3886200" y="16916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data flywheel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429000" y="1993392"/>
            <a:ext cx="2377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2900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1,500+</a:t>
            </a:r>
            <a:endParaRPr lang="en-US" sz="3200" dirty="0"/>
          </a:p>
        </p:txBody>
      </p:sp>
      <p:sp>
        <p:nvSpPr>
          <p:cNvPr id="24" name="Text 20"/>
          <p:cNvSpPr/>
          <p:nvPr/>
        </p:nvSpPr>
        <p:spPr>
          <a:xfrm>
            <a:off x="3429000" y="2651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样本/日(自营场景)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429000" y="2971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自营餐厅每日产出真实多模态数据,Tesla / Figure 主要靠仿真 &lt; 100/日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3383280" y="3886200"/>
            <a:ext cx="2468880" cy="82296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27" name="Text 23"/>
          <p:cNvSpPr/>
          <p:nvPr/>
        </p:nvSpPr>
        <p:spPr>
          <a:xfrm>
            <a:off x="3474720" y="39319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为什么追不上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3474720" y="4114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通过自营餐厅形成的数据飞轮在 30 个月后产生不可逆的复利效应,后入者追不上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6035040" y="1280160"/>
            <a:ext cx="2743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035040" y="1280160"/>
            <a:ext cx="2743200" cy="54864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347472" cy="34747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675120" y="14447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模块化交付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6675120" y="16916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deployment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6217920" y="1993392"/>
            <a:ext cx="2377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21792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10-14</a:t>
            </a:r>
            <a:endParaRPr lang="en-US" sz="3200" dirty="0"/>
          </a:p>
        </p:txBody>
      </p:sp>
      <p:sp>
        <p:nvSpPr>
          <p:cNvPr id="36" name="Text 31"/>
          <p:cNvSpPr/>
          <p:nvPr/>
        </p:nvSpPr>
        <p:spPr>
          <a:xfrm>
            <a:off x="6217920" y="2651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 新场景部署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6217920" y="2971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Real2Sim2Real 闭环 + 域随机化 + &lt; 100 episode 微调,行业平均 8-12 周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6172200" y="3886200"/>
            <a:ext cx="2468880" cy="82296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39" name="Text 34"/>
          <p:cNvSpPr/>
          <p:nvPr/>
        </p:nvSpPr>
        <p:spPr>
          <a:xfrm>
            <a:off x="6263640" y="39319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为什么追不上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6263640" y="4114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部署周期 6× 行业速度 = 同样研发资源下场景扩张速度也是对手 4 倍,18 月窗口拉开数量级差距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10972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  解决方案 · 产线全景 + 信息流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工位的「小流水线 + 柔性补位」 + 端到端调度链路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 线 全 景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920240" cy="594360"/>
          </a:xfrm>
          <a:prstGeom prst="rect">
            <a:avLst/>
          </a:prstGeom>
          <a:solidFill>
            <a:srgbClr val="23232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7335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600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炒菜机 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011680" y="16002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560320" y="1508760"/>
            <a:ext cx="1920240" cy="594360"/>
          </a:xfrm>
          <a:prstGeom prst="rect">
            <a:avLst/>
          </a:prstGeom>
          <a:solidFill>
            <a:srgbClr val="23232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67335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63240" y="1600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炒菜机 B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114800" y="16002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663440" y="1508760"/>
            <a:ext cx="1920240" cy="594360"/>
          </a:xfrm>
          <a:prstGeom prst="rect">
            <a:avLst/>
          </a:prstGeom>
          <a:solidFill>
            <a:srgbClr val="23232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67335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66360" y="1600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炒菜机 C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217920" y="16002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6766560" y="1508760"/>
            <a:ext cx="1920240" cy="594360"/>
          </a:xfrm>
          <a:prstGeom prst="rect">
            <a:avLst/>
          </a:prstGeom>
          <a:solidFill>
            <a:srgbClr val="23232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673352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69480" y="1600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炒菜机 D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8321040" y="16002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800" dirty="0"/>
          </a:p>
        </p:txBody>
      </p:sp>
      <p:sp>
        <p:nvSpPr>
          <p:cNvPr id="22" name="Shape 16"/>
          <p:cNvSpPr/>
          <p:nvPr/>
        </p:nvSpPr>
        <p:spPr>
          <a:xfrm>
            <a:off x="457200" y="21945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AF6F0"/>
          </a:solidFill>
          <a:ln w="12700">
            <a:solidFill>
              <a:srgbClr val="D97757"/>
            </a:solidFill>
            <a:prstDash val="dash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286000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05840" y="21945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人形机器人柔性周转区  ·  在 8 个工位间离散点位轮转,负责取 / 放容器与物料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457200" y="28346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  息  流  CJ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57200" y="3108960"/>
            <a:ext cx="1508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457200" y="31821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订单入口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57200" y="345643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前台 / PAD / 外卖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 rot="-5400000">
            <a:off x="1970532" y="3429000"/>
            <a:ext cx="100584" cy="137160"/>
          </a:xfrm>
          <a:prstGeom prst="rightTriangle">
            <a:avLst/>
          </a:prstGeom>
          <a:solidFill>
            <a:srgbClr val="D97757"/>
          </a:solidFill>
          <a:ln/>
        </p:spPr>
      </p:sp>
      <p:sp>
        <p:nvSpPr>
          <p:cNvPr id="30" name="Shape 23"/>
          <p:cNvSpPr/>
          <p:nvPr/>
        </p:nvSpPr>
        <p:spPr>
          <a:xfrm>
            <a:off x="2075688" y="3108960"/>
            <a:ext cx="1508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2075688" y="31821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APS 排产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2075688" y="345643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柔性插单 + 拼单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 rot="-5400000">
            <a:off x="3589020" y="3429000"/>
            <a:ext cx="100584" cy="137160"/>
          </a:xfrm>
          <a:prstGeom prst="rightTriangle">
            <a:avLst/>
          </a:prstGeom>
          <a:solidFill>
            <a:srgbClr val="D97757"/>
          </a:solidFill>
          <a:ln/>
        </p:spPr>
      </p:sp>
      <p:sp>
        <p:nvSpPr>
          <p:cNvPr id="34" name="Shape 27"/>
          <p:cNvSpPr/>
          <p:nvPr/>
        </p:nvSpPr>
        <p:spPr>
          <a:xfrm>
            <a:off x="3694176" y="3108960"/>
            <a:ext cx="1508760" cy="7772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3694176" y="31821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DCS 控制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3694176" y="345643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4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分布式调度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 rot="-5400000">
            <a:off x="5207508" y="3429000"/>
            <a:ext cx="100584" cy="137160"/>
          </a:xfrm>
          <a:prstGeom prst="rightTriangle">
            <a:avLst/>
          </a:prstGeom>
          <a:solidFill>
            <a:srgbClr val="D97757"/>
          </a:solidFill>
          <a:ln/>
        </p:spPr>
      </p:sp>
      <p:sp>
        <p:nvSpPr>
          <p:cNvPr id="38" name="Shape 31"/>
          <p:cNvSpPr/>
          <p:nvPr/>
        </p:nvSpPr>
        <p:spPr>
          <a:xfrm>
            <a:off x="5312664" y="3108960"/>
            <a:ext cx="1508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5312664" y="31821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执行单元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5312664" y="345643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 / 炒锅 / 打饭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 rot="-5400000">
            <a:off x="6825996" y="3429000"/>
            <a:ext cx="100584" cy="137160"/>
          </a:xfrm>
          <a:prstGeom prst="rightTriangle">
            <a:avLst/>
          </a:prstGeom>
          <a:solidFill>
            <a:srgbClr val="D97757"/>
          </a:solidFill>
          <a:ln/>
        </p:spPr>
      </p:sp>
      <p:sp>
        <p:nvSpPr>
          <p:cNvPr id="42" name="Shape 35"/>
          <p:cNvSpPr/>
          <p:nvPr/>
        </p:nvSpPr>
        <p:spPr>
          <a:xfrm>
            <a:off x="6931152" y="3108960"/>
            <a:ext cx="1508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6931152" y="31821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履约交付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6931152" y="345643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状态核对 + 确收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457200" y="40233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 料 流  LF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457200" y="4251960"/>
            <a:ext cx="2697480" cy="50292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47" name="Text 40"/>
          <p:cNvSpPr/>
          <p:nvPr/>
        </p:nvSpPr>
        <p:spPr>
          <a:xfrm>
            <a:off x="548640" y="42519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饭盒 → 取饭盒 → 打饭机装饭 → 封盖 → 交付</a:t>
            </a:r>
            <a:endParaRPr lang="en-US" sz="850" dirty="0"/>
          </a:p>
        </p:txBody>
      </p:sp>
      <p:sp>
        <p:nvSpPr>
          <p:cNvPr id="48" name="Shape 41"/>
          <p:cNvSpPr/>
          <p:nvPr/>
        </p:nvSpPr>
        <p:spPr>
          <a:xfrm>
            <a:off x="3246120" y="4251960"/>
            <a:ext cx="2697480" cy="50292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49" name="Text 42"/>
          <p:cNvSpPr/>
          <p:nvPr/>
        </p:nvSpPr>
        <p:spPr>
          <a:xfrm>
            <a:off x="3337560" y="42519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菜盒 → 取菜盒 → 盛装点 B → 封盖 → 交付</a:t>
            </a:r>
            <a:endParaRPr lang="en-US" sz="850" dirty="0"/>
          </a:p>
        </p:txBody>
      </p:sp>
      <p:sp>
        <p:nvSpPr>
          <p:cNvPr id="50" name="Shape 43"/>
          <p:cNvSpPr/>
          <p:nvPr/>
        </p:nvSpPr>
        <p:spPr>
          <a:xfrm>
            <a:off x="6035040" y="4251960"/>
            <a:ext cx="2697480" cy="50292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51" name="Text 44"/>
          <p:cNvSpPr/>
          <p:nvPr/>
        </p:nvSpPr>
        <p:spPr>
          <a:xfrm>
            <a:off x="6126480" y="42519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分装盒 → 取分装盒 → 炒锅出菜 → 1→4 分装 → 回缓存</a:t>
            </a:r>
            <a:endParaRPr lang="en-US" sz="850" dirty="0"/>
          </a:p>
        </p:txBody>
      </p:sp>
      <p:sp>
        <p:nvSpPr>
          <p:cNvPr id="52" name="Text 45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橙色节点 = DCS 调度核心  ·  4 类容器各有完整生命周期</a:t>
            </a:r>
            <a:endParaRPr lang="en-US" sz="850" dirty="0"/>
          </a:p>
        </p:txBody>
      </p:sp>
      <p:sp>
        <p:nvSpPr>
          <p:cNvPr id="53" name="Text 4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10972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  第一阶段聚焦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刻意降低工程复杂度,先把 0→1 跑通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411480"/>
          </a:xfrm>
          <a:prstGeom prst="rect">
            <a:avLst/>
          </a:prstGeom>
          <a:solidFill>
            <a:srgbClr val="7A9B7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  ·  现在做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0233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8288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工位间离散点位轮转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" y="212140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不做连续全空间运动</a:t>
            </a:r>
            <a:endParaRPr lang="en-US" sz="9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8775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25420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只做容器器皿抓取 / 放置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43000" y="28346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不做物料操作和设备操作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00984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325526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 任务执行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143000" y="354787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 VLM / VLA / 自然语言</a:t>
            </a:r>
            <a:endParaRPr lang="en-US" sz="9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14216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396849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结算与接待由人工承担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143000" y="426110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机器人专注后厨执行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617720" y="1280160"/>
            <a:ext cx="4023360" cy="411480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21" name="Text 15"/>
          <p:cNvSpPr/>
          <p:nvPr/>
        </p:nvSpPr>
        <p:spPr>
          <a:xfrm>
            <a:off x="480060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  ·  以后做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617720" y="1691640"/>
            <a:ext cx="40233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87452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03520" y="18288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连续全空间自由移动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303520" y="212140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 / 定位 / 避障 重构</a:t>
            </a:r>
            <a:endParaRPr lang="en-US" sz="9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587752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03520" y="25420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设备操作 + 物料操作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5303520" y="28346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舀菜、夹取、调味等动作</a:t>
            </a:r>
            <a:endParaRPr lang="en-US" sz="9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3300984"/>
            <a:ext cx="365760" cy="3657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303520" y="325526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VLM / VLA 多模态理解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5303520" y="354787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policy 升级到通用模型</a:t>
            </a:r>
            <a:endParaRPr lang="en-US" sz="95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4014216"/>
            <a:ext cx="365760" cy="36576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303520" y="396849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自然语言接待与结算</a:t>
            </a:r>
            <a:endParaRPr lang="en-US" sz="1200" dirty="0"/>
          </a:p>
        </p:txBody>
      </p:sp>
      <p:sp>
        <p:nvSpPr>
          <p:cNvPr id="34" name="Text 24"/>
          <p:cNvSpPr/>
          <p:nvPr/>
        </p:nvSpPr>
        <p:spPr>
          <a:xfrm>
            <a:off x="5303520" y="426110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前后场一体化服务</a:t>
            </a:r>
            <a:endParaRPr lang="en-US" sz="950" dirty="0"/>
          </a:p>
        </p:txBody>
      </p:sp>
      <p:sp>
        <p:nvSpPr>
          <p:cNvPr id="35" name="Text 25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阶段一不是「能力不足」,是「策略选择」 — 在闭合 SOP 中先建立数据飞轮</a:t>
            </a:r>
            <a:endParaRPr lang="en-US" sz="950" dirty="0"/>
          </a:p>
        </p:txBody>
      </p:sp>
      <p:sp>
        <p:nvSpPr>
          <p:cNvPr id="36" name="Text 2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10972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  单点经济模型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 14 月 / 新加坡 8 月  ·  双市场 ROI 对比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402336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🇨🇳  中国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个月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23042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回本周期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77440" y="17373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377440" y="23042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人工节省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128016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280160"/>
            <a:ext cx="4023360" cy="54864"/>
          </a:xfrm>
          <a:prstGeom prst="rect">
            <a:avLst/>
          </a:prstGeom>
          <a:solidFill>
            <a:srgbClr val="ED2939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29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🇸🇬  新加坡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7373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D29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个月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800600" y="23042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回本周期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37960" y="17373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29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537960" y="23042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人工节省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2788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月度运营成本对比(单位:人民币万元 / 单店)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" y="3108960"/>
          <a:ext cx="822960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假设:日产能 500 份 / 12h 运转 / 设备 5 年直线摊销  ·  SG BOM 含 70% PSG 补贴后净额  ·  以试点实测校准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10972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  12 月路径与关键风险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Dual-track roadmap (CN + SG) with risk mitigation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月双轨路径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00784"/>
            <a:ext cx="164592" cy="164592"/>
          </a:xfrm>
          <a:prstGeom prst="oval">
            <a:avLst/>
          </a:prstGeom>
          <a:solidFill>
            <a:srgbClr val="D977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276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627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🇨🇳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165506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EVT2.0 验证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048256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国内首店硬件 + 试点工位走通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2267712"/>
            <a:ext cx="164592" cy="164592"/>
          </a:xfrm>
          <a:prstGeom prst="oval">
            <a:avLst/>
          </a:prstGeom>
          <a:solidFill>
            <a:srgbClr val="D977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1945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🇨🇳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222199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40" y="244144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完整产线 DEMO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615184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工位打通,日产 100 份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2834640"/>
            <a:ext cx="164592" cy="164592"/>
          </a:xfrm>
          <a:prstGeom prst="oval">
            <a:avLst/>
          </a:prstGeom>
          <a:solidFill>
            <a:srgbClr val="ED29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7614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29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27614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🇸🇬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278892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77240" y="300837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新加坡首店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318211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EDB 谈判完成 + PSG 通过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3401568"/>
            <a:ext cx="164592" cy="164592"/>
          </a:xfrm>
          <a:prstGeom prst="oval">
            <a:avLst/>
          </a:prstGeom>
          <a:solidFill>
            <a:srgbClr val="B850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3284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M9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33284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🇨🇳🇸🇬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83080" y="335584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77240" y="35753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 3 店 + SG 扩张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3749040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团餐客户落地,日产 500 份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2920" y="3968496"/>
            <a:ext cx="164592" cy="164592"/>
          </a:xfrm>
          <a:prstGeom prst="oval">
            <a:avLst/>
          </a:prstGeom>
          <a:solidFill>
            <a:srgbClr val="B850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38953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M12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80160" y="3895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🇨🇳🇸🇬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783080" y="392277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77240" y="414223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双市场复制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" y="431596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 5 店 + SG 3 店,准备 A 轮 close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17720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个核心风险与应对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17720" y="1627632"/>
            <a:ext cx="4069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17720" y="1627632"/>
            <a:ext cx="54864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4736592" y="17007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120640" y="16733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执行成功率与稳定性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20640" y="19202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Real2Sim2Real 闭环训练 · 单工位 SOP fine-tune · 失败兜底由 DCS 自动重派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17720" y="2340864"/>
            <a:ext cx="4069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17720" y="2340864"/>
            <a:ext cx="54864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4" name="Text 42"/>
          <p:cNvSpPr/>
          <p:nvPr/>
        </p:nvSpPr>
        <p:spPr>
          <a:xfrm>
            <a:off x="4736592" y="24140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1206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跨市场 SOP 适配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20640" y="26334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中式 SOP / 东南亚口味 / 清真供应链 — 模块化菜单库 + 本地厨师参与训练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17720" y="3054096"/>
            <a:ext cx="4069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17720" y="3054096"/>
            <a:ext cx="54864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9" name="Text 47"/>
          <p:cNvSpPr/>
          <p:nvPr/>
        </p:nvSpPr>
        <p:spPr>
          <a:xfrm>
            <a:off x="4736592" y="31272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120640" y="30998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信息系统统筹调度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20640" y="33467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APS+DCS 双层架构 · 历史订单驱动 ML 排产 · WMS 物料核对兜底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617720" y="3767328"/>
            <a:ext cx="4069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17720" y="3767328"/>
            <a:ext cx="54864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4" name="Text 52"/>
          <p:cNvSpPr/>
          <p:nvPr/>
        </p:nvSpPr>
        <p:spPr>
          <a:xfrm>
            <a:off x="4736592" y="3840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120640" y="3813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海外合规与认证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120640" y="40599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新加坡 SFA 食品安全认证 + EP 配额规划 + 数据驻留 PDPA 合规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10972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  海外扩张  ·  新加坡为锚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Singapore as the proof, Southeast Asia as the prize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23232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8132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29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M6 海外首店  ·  Singapore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6642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1 个 5,500 亿美元国家撬动 3 万亿东南亚市场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577840" y="1371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577840" y="1719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F&amp;B 外劳上限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611112" y="1371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611112" y="1719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PSG 自动化补贴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644384" y="1371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月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644384" y="1719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回本周期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为什么是新加坡 · 三个理由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269748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2697480"/>
            <a:ext cx="2697480" cy="36576"/>
          </a:xfrm>
          <a:prstGeom prst="rect">
            <a:avLst/>
          </a:prstGeom>
          <a:solidFill>
            <a:srgbClr val="ED2939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62072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51560" y="28254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结构性缺口最深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40080" y="33375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F&amp;B 外劳已触 35% 上限 · LQS 2026 升至 S$1,800 · 政策不可逆紧缩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594360" y="4069080"/>
            <a:ext cx="2423160" cy="27432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22" name="Text 18"/>
          <p:cNvSpPr/>
          <p:nvPr/>
        </p:nvSpPr>
        <p:spPr>
          <a:xfrm>
            <a:off x="594360" y="4069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Forced automation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246120" y="269748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246120" y="2697480"/>
            <a:ext cx="2697480" cy="36576"/>
          </a:xfrm>
          <a:prstGeom prst="rect">
            <a:avLst/>
          </a:prstGeom>
          <a:solidFill>
            <a:srgbClr val="ED2939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862072"/>
            <a:ext cx="329184" cy="3291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840480" y="28254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政府主动买单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3429000" y="33375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Budget 2026 把 PSG 补贴从 50% 升至 70%,封顶 S$30K/年 · 4-6 周批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383280" y="4069080"/>
            <a:ext cx="2423160" cy="27432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29" name="Text 24"/>
          <p:cNvSpPr/>
          <p:nvPr/>
        </p:nvSpPr>
        <p:spPr>
          <a:xfrm>
            <a:off x="3383280" y="4069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Govt co-funding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6035040" y="269748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035040" y="2697480"/>
            <a:ext cx="2697480" cy="36576"/>
          </a:xfrm>
          <a:prstGeom prst="rect">
            <a:avLst/>
          </a:prstGeom>
          <a:solidFill>
            <a:srgbClr val="ED2939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862072"/>
            <a:ext cx="329184" cy="32918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629400" y="28254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品牌信号效应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6217920" y="33375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「Singapore-validated」是进入印尼 / 马来 / 越南 / 泰国 6.7 亿人口的免检通行证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6172200" y="4069080"/>
            <a:ext cx="2423160" cy="27432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36" name="Text 30"/>
          <p:cNvSpPr/>
          <p:nvPr/>
        </p:nvSpPr>
        <p:spPr>
          <a:xfrm>
            <a:off x="6172200" y="4069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passport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 GTM 与 PSG 战术见配套《新加坡市场深度补充》10 页 deck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10972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  团队与价值观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用户思维 · 长远主义 · 高效执行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5910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33172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用户思维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74320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聚焦场景,以终为始,拉动全局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139696" y="1371600"/>
            <a:ext cx="15910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904" y="164592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39696" y="233172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DNA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231136" y="274320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着眼长远,厚积薄发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822192" y="1371600"/>
            <a:ext cx="15910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4592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22192" y="233172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主动反馈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913632" y="274320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项目节点信息有去有回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504688" y="1371600"/>
            <a:ext cx="15910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896" y="164592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04688" y="233172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群策群力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596128" y="274320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目标一致,资源共享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7187184" y="1371600"/>
            <a:ext cx="15910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2" y="1645920"/>
            <a:ext cx="548640" cy="5486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87184" y="233172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高速推进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7278624" y="274320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勇于决策,消除卡点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26" name="Text 19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pPr algn="ctr" indent="0" marL="0">
              <a:buNone/>
            </a:pPr>
            <a:r>
              <a:rPr lang="en-US" sz="28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ct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</a:t>
            </a:r>
            <a:pPr algn="ctr" indent="0" marL="0">
              <a:buNone/>
            </a:pPr>
            <a:r>
              <a:rPr lang="en-US" sz="28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ct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pPr algn="ctr" indent="0" marL="0">
              <a:buNone/>
            </a:pPr>
            <a:r>
              <a:rPr lang="en-US" sz="28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</a:t>
            </a:r>
            <a:pPr algn="ctr" indent="0" marL="0">
              <a:buNone/>
            </a:pPr>
            <a:r>
              <a:rPr lang="en-US" sz="2800" b="1" dirty="0">
                <a:solidFill>
                  <a:srgbClr val="E8A9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</a:t>
            </a:r>
            <a:pPr algn="ctr" indent="0" marL="0">
              <a:buNone/>
            </a:pPr>
            <a:r>
              <a:rPr lang="en-US" sz="28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ctr" indent="0" marL="0">
              <a:buNone/>
            </a:pPr>
            <a:r>
              <a:rPr lang="en-US" sz="2800" b="1" dirty="0">
                <a:solidFill>
                  <a:srgbClr val="E8A9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</a:t>
            </a:r>
            <a:pPr algn="ctr" indent="0" marL="0">
              <a:buNone/>
            </a:pPr>
            <a:r>
              <a:rPr lang="en-US" sz="28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ctr" indent="0" marL="0">
              <a:buNone/>
            </a:pPr>
            <a:r>
              <a:rPr lang="en-US" sz="2800" b="1" dirty="0">
                <a:solidFill>
                  <a:srgbClr val="E8A9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</a:t>
            </a:r>
            <a:endParaRPr lang="en-US" sz="2800" dirty="0"/>
          </a:p>
        </p:txBody>
      </p:sp>
      <p:sp>
        <p:nvSpPr>
          <p:cNvPr id="27" name="Text 2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10972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轮 Ask  ·  为什么是现在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now · what we ask · what you get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8,000 万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人民币  ·  Series 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03580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0358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研发投入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23160" y="30358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VLA / 灵巧手 / Sim2Real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41985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4198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试点扩张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341985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 5 店 + 新加坡 3 店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80390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80390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人员扩招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23160" y="380390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→ 70 人 (含 SG GM + BD)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18795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1879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海外节点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23160" y="41879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新加坡子公司 + Boston 算法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325880"/>
            <a:ext cx="3840480" cy="3337560"/>
          </a:xfrm>
          <a:prstGeom prst="rect">
            <a:avLst/>
          </a:prstGeom>
          <a:solidFill>
            <a:srgbClr val="2C2C2C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个月达成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1783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M18 北极星指标 · B 轮 readiness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7220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VLA 任务成功率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72200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餐厅 SOP 内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0" y="2788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天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172200" y="2788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新场景部署周期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3017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Real2Sim2Real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0" y="3383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 万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172200" y="3383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整机 BOM (RMB)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消费级前夜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0" y="3977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国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72200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海外覆盖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4206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SG / 印尼 / 马来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window is now.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 30 个月是不可逆的飞轮启动期。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Robot · Series A Pitch v3</dc:title>
  <dc:subject>PptxGenJS Presentation</dc:subject>
  <dc:creator>Astra Intelligence</dc:creator>
  <cp:lastModifiedBy>Astra Intelligence</cp:lastModifiedBy>
  <cp:revision>1</cp:revision>
  <dcterms:created xsi:type="dcterms:W3CDTF">2026-04-29T06:33:14Z</dcterms:created>
  <dcterms:modified xsi:type="dcterms:W3CDTF">2026-04-29T06:33:14Z</dcterms:modified>
</cp:coreProperties>
</file>